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11680"/>
            <a:ext cx="10515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0B981"/>
                </a:solidFill>
              </a:defRPr>
            </a:pPr>
            <a:r>
              <a:t>BioVault Sentinel</a:t>
            </a:r>
          </a:p>
          <a:p>
            <a:pPr>
              <a:spcBef>
                <a:spcPts val="1200"/>
              </a:spcBef>
              <a:defRPr sz="2200">
                <a:solidFill>
                  <a:srgbClr val="94A3B8"/>
                </a:solidFill>
              </a:defRPr>
            </a:pPr>
            <a:r>
              <a:t>Phase 1 MVP · v0.1.0-mvp</a:t>
            </a:r>
          </a:p>
          <a:p>
            <a:pPr>
              <a:spcBef>
                <a:spcPts val="2000"/>
              </a:spcBef>
              <a:defRPr sz="1600">
                <a:solidFill>
                  <a:srgbClr val="E2E8F0"/>
                </a:solidFill>
              </a:defRPr>
            </a:pPr>
            <a:r>
              <a:t>Managed LTO-9 vault + dashboard · Metadata online, tapes air-gapped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Why Sentinel?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DPDPA 2023 compliance without cloud egress risk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6304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Hospitals &amp; enterprises must retain records — but on-prem is risky, cloud is expensive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Sentinel: write once to magnetic tape, shelf offline (air-gapped), index searchable online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Clients search &amp; request files; technicians retrieve in 15-minute SLA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Signed PDF certificates for ingest, deletion, and audit export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Architecture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Two portals · one API · metadata DB · tape offline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1554480"/>
            <a:ext cx="2194560" cy="594360"/>
          </a:xfrm>
          <a:prstGeom prst="rect">
            <a:avLst/>
          </a:prstGeom>
          <a:solidFill>
            <a:srgbClr val="10B981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Client Portal :5173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2377440"/>
            <a:ext cx="2194560" cy="594360"/>
          </a:xfrm>
          <a:prstGeom prst="rect">
            <a:avLst/>
          </a:prstGeom>
          <a:solidFill>
            <a:srgbClr val="F59E0B"/>
          </a:solidFill>
          <a:ln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Admin Portal :5174</a:t>
            </a:r>
          </a:p>
        </p:txBody>
      </p:sp>
      <p:sp>
        <p:nvSpPr>
          <p:cNvPr id="5" name="Arc 4"/>
          <p:cNvSpPr/>
          <p:nvPr/>
        </p:nvSpPr>
        <p:spPr>
          <a:xfrm>
            <a:off x="2788920" y="1828800"/>
            <a:ext cx="320040" cy="228600"/>
          </a:xfrm>
          <a:prstGeom prst="arc">
            <a:avLst/>
          </a:prstGeom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rc 5"/>
          <p:cNvSpPr/>
          <p:nvPr/>
        </p:nvSpPr>
        <p:spPr>
          <a:xfrm>
            <a:off x="2788920" y="2606040"/>
            <a:ext cx="320040" cy="228600"/>
          </a:xfrm>
          <a:prstGeom prst="arc">
            <a:avLst/>
          </a:prstGeom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0" y="1965960"/>
            <a:ext cx="2560320" cy="594360"/>
          </a:xfrm>
          <a:prstGeom prst="rect">
            <a:avLst/>
          </a:prstGeom>
          <a:solidFill>
            <a:srgbClr val="E2E8F0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Sentinel API :4000</a:t>
            </a:r>
          </a:p>
        </p:txBody>
      </p:sp>
      <p:sp>
        <p:nvSpPr>
          <p:cNvPr id="8" name="Arc 7"/>
          <p:cNvSpPr/>
          <p:nvPr/>
        </p:nvSpPr>
        <p:spPr>
          <a:xfrm>
            <a:off x="5852160" y="2240280"/>
            <a:ext cx="320040" cy="228600"/>
          </a:xfrm>
          <a:prstGeom prst="arc">
            <a:avLst/>
          </a:prstGeom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263640" y="1554480"/>
            <a:ext cx="2377440" cy="59436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MongoDB (metadata)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2377440"/>
            <a:ext cx="2377440" cy="594360"/>
          </a:xfrm>
          <a:prstGeom prst="rect">
            <a:avLst/>
          </a:prstGeom>
          <a:solidFill>
            <a:srgbClr val="60A5FA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Redis + BullMQ</a:t>
            </a:r>
          </a:p>
        </p:txBody>
      </p:sp>
      <p:sp>
        <p:nvSpPr>
          <p:cNvPr id="11" name="Arc 10"/>
          <p:cNvSpPr/>
          <p:nvPr/>
        </p:nvSpPr>
        <p:spPr>
          <a:xfrm>
            <a:off x="8686800" y="2240280"/>
            <a:ext cx="320040" cy="228600"/>
          </a:xfrm>
          <a:prstGeom prst="arc">
            <a:avLst/>
          </a:prstGeom>
          <a:ln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098280" y="1965960"/>
            <a:ext cx="2377440" cy="594360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F172A"/>
                </a:solidFill>
              </a:defRPr>
            </a:pPr>
            <a:r>
              <a:t>LTO-9 Tape (sim)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291840"/>
            <a:ext cx="1051560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94A3B8"/>
                </a:solidFill>
              </a:defRPr>
            </a:pPr>
            <a:r>
              <a:t>Rule: No file bytes in MongoDB or public API — only metadata &amp; transient staging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Flow 1 — Ingest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Upload → index → tape write → verify → seal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60020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0B981"/>
                </a:solidFill>
              </a:defRPr>
            </a:pPr>
            <a:r>
              <a:t>1. Upload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560320" y="160020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2E8F0"/>
                </a:solidFill>
              </a:defRPr>
            </a:pPr>
            <a:r>
              <a:t>Client uploads via portal (multipart)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21031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0B981"/>
                </a:solidFill>
              </a:defRPr>
            </a:pPr>
            <a:r>
              <a:t>2. Index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2103120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2E8F0"/>
                </a:solidFill>
              </a:defRPr>
            </a:pPr>
            <a:r>
              <a:t>SHA-256 checksum + metadata → 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60603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0B981"/>
                </a:solidFill>
              </a:defRPr>
            </a:pPr>
            <a:r>
              <a:t>3. Tape write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60320" y="260603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2E8F0"/>
                </a:solidFill>
              </a:defRPr>
            </a:pPr>
            <a:r>
              <a:t>BullMQ worker writes to LTO-9 simulator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10895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0B981"/>
                </a:solidFill>
              </a:defRPr>
            </a:pPr>
            <a:r>
              <a:t>4. Verify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310895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2E8F0"/>
                </a:solidFill>
              </a:defRPr>
            </a:pPr>
            <a:r>
              <a:t>Read-back checksum must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3611879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1700">
                <a:solidFill>
                  <a:srgbClr val="10B981"/>
                </a:solidFill>
              </a:defRPr>
            </a:pPr>
            <a:r>
              <a:t>5. Seal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611879"/>
            <a:ext cx="8686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>
                <a:solidFill>
                  <a:srgbClr val="E2E8F0"/>
                </a:solidFill>
              </a:defRPr>
            </a:pPr>
            <a:r>
              <a:t>Job sealed · staging purged · signed ingest PDF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Flow 2 — Retrieval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15-minute SLA · admin sees tape location · client does not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Client searches archive → requests file → job enters queue (dueAt = +15 min)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Alert if unassigned &gt; 60 seconds (audit log)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Technician: Assign → Start → Complete (barcode, rack, slot shown in admin only)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File staged temporarily → client gets expiring download link → purge after use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Live Features (MVP)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Days 1–16 complete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Auth &amp; RBAC — separate client / ops sessions (5173 + 5174 simultaneously)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Ingest pipeline — sim tape, verify, ingest confirmation PDF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Search &amp; retrieval — client UI + SLA countdown tracker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Admin ops — job queue, tape inventory (health green/amber/red)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Audit export — immutable hash-chained events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Billing dashboard — storage TB, retrieval bundle, cloud savings estimate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DPDPA erasure — request → degauss → signed deletion certificate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Demo Data (seeded)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Run: pnpm --filter @biovault/sentinel-api db:seed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12 archived files — MRI, CT, lab PDFs (Acme Hospital)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5 retrieval jobs — pending, assigned, in progress, delivered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3 active tapes + inventory health scores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2 erasure requests — 1 awaiting degauss, 1 completed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Logins: admin@acme.test / tech@biovault.test — ChangeMe123!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Client :5173 · Admin :5174 · API :4000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1556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Not in MVP</a:t>
            </a:r>
          </a:p>
          <a:p>
            <a:pPr>
              <a:spcBef>
                <a:spcPts val="800"/>
              </a:spcBef>
              <a:defRPr sz="1600">
                <a:solidFill>
                  <a:srgbClr val="94A3B8"/>
                </a:solidFill>
              </a:defRPr>
            </a:pPr>
            <a:r>
              <a:t>Phase 1 completion backlog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5087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Production SFTP ingest · robotic tape picker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Full MFA · onboarding wizard · production billing/invoicing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Automated tape re-copy · SMS/email alerts</a:t>
            </a:r>
          </a:p>
          <a:p>
            <a:pPr>
              <a:spcAft>
                <a:spcPts val="1000"/>
              </a:spcAft>
              <a:defRPr sz="1800">
                <a:solidFill>
                  <a:srgbClr val="E2E8F0"/>
                </a:solidFill>
              </a:defRPr>
            </a:pPr>
            <a:r>
              <a:t>Owning a data centre — colo lease only (CtrlS Hyderabad)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